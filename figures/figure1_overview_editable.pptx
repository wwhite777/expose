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92240" cy="31546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" y="45720"/>
            <a:ext cx="6400800" cy="1399032"/>
          </a:xfrm>
          <a:prstGeom prst="roundRect">
            <a:avLst/>
          </a:prstGeom>
          <a:solidFill>
            <a:srgbClr val="F7F9FB"/>
          </a:solidFill>
          <a:ln w="8255"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" y="1517904"/>
            <a:ext cx="6400800" cy="1591056"/>
          </a:xfrm>
          <a:prstGeom prst="roundRect">
            <a:avLst/>
          </a:prstGeom>
          <a:solidFill>
            <a:srgbClr val="F7F9FB"/>
          </a:solidFill>
          <a:ln w="8255">
            <a:solidFill>
              <a:srgbClr val="D5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508760" y="813816"/>
            <a:ext cx="411480" cy="0"/>
          </a:xfrm>
          <a:prstGeom prst="line">
            <a:avLst/>
          </a:prstGeom>
          <a:ln w="13335">
            <a:solidFill>
              <a:srgbClr val="46515C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3063240" y="530352"/>
            <a:ext cx="411480" cy="155448"/>
          </a:xfrm>
          <a:prstGeom prst="line">
            <a:avLst/>
          </a:prstGeom>
          <a:ln w="13335">
            <a:solidFill>
              <a:srgbClr val="46515C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063240" y="960120"/>
            <a:ext cx="411480" cy="146304"/>
          </a:xfrm>
          <a:prstGeom prst="line">
            <a:avLst/>
          </a:prstGeom>
          <a:ln w="13335">
            <a:solidFill>
              <a:srgbClr val="46515C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709160" y="530352"/>
            <a:ext cx="228600" cy="155448"/>
          </a:xfrm>
          <a:prstGeom prst="line">
            <a:avLst/>
          </a:prstGeom>
          <a:ln w="13335">
            <a:solidFill>
              <a:srgbClr val="46515C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207008" y="2057400"/>
            <a:ext cx="164592" cy="265176"/>
          </a:xfrm>
          <a:prstGeom prst="line">
            <a:avLst/>
          </a:prstGeom>
          <a:ln w="13335">
            <a:solidFill>
              <a:srgbClr val="46515C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444752" y="2057400"/>
            <a:ext cx="109728" cy="0"/>
          </a:xfrm>
          <a:prstGeom prst="line">
            <a:avLst/>
          </a:prstGeom>
          <a:ln w="13335">
            <a:solidFill>
              <a:srgbClr val="46515C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07008" y="2432304"/>
            <a:ext cx="164592" cy="164592"/>
          </a:xfrm>
          <a:prstGeom prst="line">
            <a:avLst/>
          </a:prstGeom>
          <a:ln w="13335">
            <a:solidFill>
              <a:srgbClr val="46515C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444752" y="2596896"/>
            <a:ext cx="109728" cy="0"/>
          </a:xfrm>
          <a:prstGeom prst="line">
            <a:avLst/>
          </a:prstGeom>
          <a:ln w="13335">
            <a:solidFill>
              <a:srgbClr val="46515C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651760" y="2057400"/>
            <a:ext cx="228600" cy="0"/>
          </a:xfrm>
          <a:prstGeom prst="line">
            <a:avLst/>
          </a:prstGeom>
          <a:ln w="13335">
            <a:solidFill>
              <a:srgbClr val="46515C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651760" y="2596896"/>
            <a:ext cx="228600" cy="0"/>
          </a:xfrm>
          <a:prstGeom prst="line">
            <a:avLst/>
          </a:prstGeom>
          <a:ln w="13335">
            <a:solidFill>
              <a:srgbClr val="46515C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023360" y="2057400"/>
            <a:ext cx="237744" cy="173736"/>
          </a:xfrm>
          <a:prstGeom prst="line">
            <a:avLst/>
          </a:prstGeom>
          <a:ln w="13335">
            <a:solidFill>
              <a:srgbClr val="46515C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023360" y="2505456"/>
            <a:ext cx="237744" cy="91440"/>
          </a:xfrm>
          <a:prstGeom prst="line">
            <a:avLst/>
          </a:prstGeom>
          <a:ln w="13335">
            <a:solidFill>
              <a:srgbClr val="46515C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221224" y="2368296"/>
            <a:ext cx="173736" cy="0"/>
          </a:xfrm>
          <a:prstGeom prst="line">
            <a:avLst/>
          </a:prstGeom>
          <a:ln w="13335">
            <a:solidFill>
              <a:srgbClr val="46515C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335024" y="1984248"/>
            <a:ext cx="146304" cy="14630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465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20252B"/>
                </a:solidFill>
                <a:latin typeface="Arial"/>
              </a:rPr>
              <a:t>+</a:t>
            </a:r>
          </a:p>
        </p:txBody>
      </p:sp>
      <p:sp>
        <p:nvSpPr>
          <p:cNvPr id="18" name="Oval 17"/>
          <p:cNvSpPr/>
          <p:nvPr/>
        </p:nvSpPr>
        <p:spPr>
          <a:xfrm>
            <a:off x="1335024" y="2523744"/>
            <a:ext cx="146304" cy="146304"/>
          </a:xfrm>
          <a:prstGeom prst="ellipse">
            <a:avLst/>
          </a:prstGeom>
          <a:solidFill>
            <a:srgbClr val="FFFFFF"/>
          </a:solidFill>
          <a:ln w="11430">
            <a:solidFill>
              <a:srgbClr val="465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20252B"/>
                </a:solidFill>
                <a:latin typeface="Arial"/>
              </a:rPr>
              <a:t>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576072"/>
            <a:ext cx="1188720" cy="475488"/>
          </a:xfrm>
          <a:prstGeom prst="roundRect">
            <a:avLst/>
          </a:prstGeom>
          <a:solidFill>
            <a:srgbClr val="DCECF7"/>
          </a:solidFill>
          <a:ln w="1143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20252B"/>
                </a:solidFill>
                <a:latin typeface="Arial"/>
              </a:rPr>
              <a:t>Source people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20252B"/>
                </a:solidFill>
                <a:latin typeface="Arial"/>
              </a:rPr>
              <a:t>session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20240" y="502920"/>
            <a:ext cx="1143000" cy="640080"/>
          </a:xfrm>
          <a:prstGeom prst="roundRect">
            <a:avLst/>
          </a:prstGeom>
          <a:solidFill>
            <a:srgbClr val="EFE4F2"/>
          </a:solidFill>
          <a:ln w="11430">
            <a:solidFill>
              <a:srgbClr val="9A5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20252B"/>
                </a:solidFill>
                <a:latin typeface="Arial"/>
              </a:rPr>
              <a:t>Fixed per-trial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20252B"/>
                </a:solidFill>
                <a:latin typeface="Arial"/>
              </a:rPr>
              <a:t>preprocessing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20252B"/>
                </a:solidFill>
                <a:latin typeface="Arial"/>
              </a:rPr>
              <a:t>OAS covariance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310896"/>
            <a:ext cx="1234440" cy="438912"/>
          </a:xfrm>
          <a:prstGeom prst="roundRect">
            <a:avLst/>
          </a:prstGeom>
          <a:solidFill>
            <a:srgbClr val="DCECF7"/>
          </a:solidFill>
          <a:ln w="1143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20252B"/>
                </a:solidFill>
                <a:latin typeface="Arial"/>
              </a:rPr>
              <a:t>Source base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20252B"/>
                </a:solidFill>
                <a:latin typeface="Arial"/>
              </a:rPr>
              <a:t>S = 100 primary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886968"/>
            <a:ext cx="1234440" cy="438912"/>
          </a:xfrm>
          <a:prstGeom prst="roundRect">
            <a:avLst/>
          </a:prstGeom>
          <a:solidFill>
            <a:srgbClr val="DCECF7"/>
          </a:solidFill>
          <a:ln w="1143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6" b="1">
                <a:solidFill>
                  <a:srgbClr val="20252B"/>
                </a:solidFill>
                <a:latin typeface="Arial"/>
              </a:rPr>
              <a:t>Source-only C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6" b="0">
                <a:solidFill>
                  <a:srgbClr val="20252B"/>
                </a:solidFill>
                <a:latin typeface="Arial"/>
              </a:rPr>
              <a:t>Person-wise validation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6" b="0">
                <a:solidFill>
                  <a:srgbClr val="20252B"/>
                </a:solidFill>
                <a:latin typeface="Arial"/>
              </a:rPr>
              <a:t>source corpus only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502920"/>
            <a:ext cx="1417320" cy="640080"/>
          </a:xfrm>
          <a:prstGeom prst="roundRect">
            <a:avLst/>
          </a:prstGeom>
          <a:solidFill>
            <a:srgbClr val="EFE4F2"/>
          </a:solidFill>
          <a:ln w="11430">
            <a:solidFill>
              <a:srgbClr val="9A5A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0" b="1">
                <a:solidFill>
                  <a:srgbClr val="20252B"/>
                </a:solidFill>
                <a:latin typeface="Arial"/>
              </a:rPr>
              <a:t>Source-base fitted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0" b="0">
                <a:solidFill>
                  <a:srgbClr val="20252B"/>
                </a:solidFill>
                <a:latin typeface="Arial"/>
              </a:rPr>
              <a:t>tangent reference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0" b="0">
                <a:solidFill>
                  <a:srgbClr val="20252B"/>
                </a:solidFill>
                <a:latin typeface="Arial"/>
              </a:rPr>
              <a:t>+ scaler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0" b="0">
                <a:solidFill>
                  <a:srgbClr val="20252B"/>
                </a:solidFill>
                <a:latin typeface="Arial"/>
              </a:rPr>
              <a:t>frozen within additions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" y="2121408"/>
            <a:ext cx="1024128" cy="512064"/>
          </a:xfrm>
          <a:prstGeom prst="roundRect">
            <a:avLst/>
          </a:prstGeom>
          <a:solidFill>
            <a:srgbClr val="DCECF7"/>
          </a:solidFill>
          <a:ln w="1143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20252B"/>
                </a:solidFill>
                <a:latin typeface="Arial"/>
              </a:rPr>
              <a:t>Common base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20252B"/>
                </a:solidFill>
                <a:latin typeface="Arial"/>
              </a:rPr>
              <a:t>shared across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20252B"/>
                </a:solidFill>
                <a:latin typeface="Arial"/>
              </a:rPr>
              <a:t>4 separate fits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54480" y="1865376"/>
            <a:ext cx="1097280" cy="393192"/>
          </a:xfrm>
          <a:prstGeom prst="roundRect">
            <a:avLst/>
          </a:prstGeom>
          <a:solidFill>
            <a:srgbClr val="DDF2E9"/>
          </a:solidFill>
          <a:ln w="1143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20252B"/>
                </a:solidFill>
                <a:latin typeface="Arial"/>
              </a:rPr>
              <a:t>Own archive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20252B"/>
                </a:solidFill>
                <a:latin typeface="Arial"/>
              </a:rPr>
              <a:t>60 = 30 / class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54480" y="2359152"/>
            <a:ext cx="1097280" cy="484632"/>
          </a:xfrm>
          <a:prstGeom prst="roundRect">
            <a:avLst/>
          </a:prstGeom>
          <a:solidFill>
            <a:srgbClr val="FCE9C7"/>
          </a:solidFill>
          <a:ln w="11430">
            <a:solidFill>
              <a:srgbClr val="D88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5" b="1">
                <a:solidFill>
                  <a:srgbClr val="20252B"/>
                </a:solidFill>
                <a:latin typeface="Arial"/>
              </a:rPr>
              <a:t>Single donor j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20252B"/>
                </a:solidFill>
                <a:latin typeface="Arial"/>
              </a:rPr>
              <a:t>60 = 30 / class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>
                <a:solidFill>
                  <a:srgbClr val="20252B"/>
                </a:solidFill>
                <a:latin typeface="Arial"/>
              </a:rPr>
              <a:t>j = 1, 2, 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80360" y="1837944"/>
            <a:ext cx="1143000" cy="448056"/>
          </a:xfrm>
          <a:prstGeom prst="roundRect">
            <a:avLst/>
          </a:prstGeom>
          <a:solidFill>
            <a:srgbClr val="DDF2E9"/>
          </a:solidFill>
          <a:ln w="1143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6" b="1">
                <a:solidFill>
                  <a:srgbClr val="20252B"/>
                </a:solidFill>
                <a:latin typeface="Arial"/>
              </a:rPr>
              <a:t>Own LR model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6" b="0">
                <a:solidFill>
                  <a:srgbClr val="20252B"/>
                </a:solidFill>
                <a:latin typeface="Arial"/>
              </a:rPr>
              <a:t>same C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6" b="0">
                <a:solidFill>
                  <a:srgbClr val="20252B"/>
                </a:solidFill>
                <a:latin typeface="Arial"/>
              </a:rPr>
              <a:t>equal trial weights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80360" y="2313432"/>
            <a:ext cx="1143000" cy="548640"/>
          </a:xfrm>
          <a:prstGeom prst="roundRect">
            <a:avLst/>
          </a:prstGeom>
          <a:solidFill>
            <a:srgbClr val="FCE9C7"/>
          </a:solidFill>
          <a:ln w="11430">
            <a:solidFill>
              <a:srgbClr val="D88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6" b="1">
                <a:solidFill>
                  <a:srgbClr val="20252B"/>
                </a:solidFill>
                <a:latin typeface="Arial"/>
              </a:rPr>
              <a:t>Donor LR models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6" b="0">
                <a:solidFill>
                  <a:srgbClr val="20252B"/>
                </a:solidFill>
                <a:latin typeface="Arial"/>
              </a:rPr>
              <a:t>3 separate fits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6" b="0">
                <a:solidFill>
                  <a:srgbClr val="20252B"/>
                </a:solidFill>
                <a:latin typeface="Arial"/>
              </a:rPr>
              <a:t>same C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6" b="0">
                <a:solidFill>
                  <a:srgbClr val="20252B"/>
                </a:solidFill>
                <a:latin typeface="Arial"/>
              </a:rPr>
              <a:t>equal trial weights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61104" y="2048256"/>
            <a:ext cx="960120" cy="640080"/>
          </a:xfrm>
          <a:prstGeom prst="roundRect">
            <a:avLst/>
          </a:prstGeom>
          <a:solidFill>
            <a:srgbClr val="E8EAED"/>
          </a:solidFill>
          <a:ln w="11430">
            <a:solidFill>
              <a:srgbClr val="5F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6" b="1">
                <a:solidFill>
                  <a:srgbClr val="20252B"/>
                </a:solidFill>
                <a:latin typeface="Arial"/>
              </a:rPr>
              <a:t>Later target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6" b="0">
                <a:solidFill>
                  <a:srgbClr val="20252B"/>
                </a:solidFill>
                <a:latin typeface="Arial"/>
              </a:rPr>
              <a:t>session 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6" b="0">
                <a:solidFill>
                  <a:srgbClr val="20252B"/>
                </a:solidFill>
                <a:latin typeface="Arial"/>
              </a:rPr>
              <a:t>evaluation only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6" b="0">
                <a:solidFill>
                  <a:srgbClr val="20252B"/>
                </a:solidFill>
                <a:latin typeface="Arial"/>
              </a:rPr>
              <a:t>no fit · no tuning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94960" y="1947672"/>
            <a:ext cx="960120" cy="859536"/>
          </a:xfrm>
          <a:prstGeom prst="roundRect">
            <a:avLst/>
          </a:prstGeom>
          <a:solidFill>
            <a:srgbClr val="FFF1CC"/>
          </a:solidFill>
          <a:ln w="11430">
            <a:solidFill>
              <a:srgbClr val="9D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6" b="1">
                <a:solidFill>
                  <a:srgbClr val="20252B"/>
                </a:solidFill>
                <a:latin typeface="Arial"/>
              </a:rPr>
              <a:t>Paired effect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6" b="0">
                <a:solidFill>
                  <a:srgbClr val="20252B"/>
                </a:solidFill>
                <a:latin typeface="Arial"/>
              </a:rPr>
              <a:t>Own BA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6" b="0">
                <a:solidFill>
                  <a:srgbClr val="20252B"/>
                </a:solidFill>
                <a:latin typeface="Arial"/>
              </a:rPr>
              <a:t>minus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6" b="0">
                <a:solidFill>
                  <a:srgbClr val="20252B"/>
                </a:solidFill>
                <a:latin typeface="Arial"/>
              </a:rPr>
              <a:t>mean of 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6" b="0">
                <a:solidFill>
                  <a:srgbClr val="20252B"/>
                </a:solidFill>
                <a:latin typeface="Arial"/>
              </a:rPr>
              <a:t>donor BAs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" y="96012"/>
            <a:ext cx="6217920" cy="1789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4" b="1">
                <a:solidFill>
                  <a:srgbClr val="20252B"/>
                </a:solidFill>
                <a:latin typeface="Arial"/>
              </a:rPr>
              <a:t>A  Source-only representation and model settings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" y="1586484"/>
            <a:ext cx="6217920" cy="1789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4" b="1">
                <a:solidFill>
                  <a:srgbClr val="20252B"/>
                </a:solidFill>
                <a:latin typeface="Arial"/>
              </a:rPr>
              <a:t>B  Matched additions and held-out evaluation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